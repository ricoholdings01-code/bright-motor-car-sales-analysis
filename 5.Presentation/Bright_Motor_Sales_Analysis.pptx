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Sales Volume by Segment (thousands)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 Volume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77A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B86-420A-9C3B-36B7053EF768}"/>
              </c:ext>
            </c:extLst>
          </c:dPt>
          <c:dPt>
            <c:idx val="1"/>
            <c:bubble3D val="0"/>
            <c:spPr>
              <a:solidFill>
                <a:srgbClr val="FFA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86-420A-9C3B-36B7053EF768}"/>
              </c:ext>
            </c:extLst>
          </c:dPt>
          <c:dPt>
            <c:idx val="2"/>
            <c:bubble3D val="0"/>
            <c:spPr>
              <a:solidFill>
                <a:srgbClr val="00A9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86-420A-9C3B-36B7053EF768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FB86-420A-9C3B-36B7053EF768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FB86-420A-9C3B-36B7053EF768}"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FB86-420A-9C3B-36B7053EF76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Economy (77%)</c:v>
                </c:pt>
                <c:pt idx="1">
                  <c:v>Luxury (17%)</c:v>
                </c:pt>
                <c:pt idx="2">
                  <c:v>Mid-Range (6%)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415</c:v>
                </c:pt>
                <c:pt idx="1">
                  <c:v>94</c:v>
                </c:pt>
                <c:pt idx="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B86-420A-9C3B-36B7053EF7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Vehicle Sales by Year (thousands)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Sales (000s)</c:v>
                </c:pt>
              </c:strCache>
            </c:strRef>
          </c:tx>
          <c:spPr>
            <a:ln w="38100" cap="flat">
              <a:solidFill>
                <a:srgbClr val="077A9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77A9D"/>
              </a:solidFill>
              <a:ln w="9525" cap="flat">
                <a:solidFill>
                  <a:srgbClr val="077A9D"/>
                </a:solidFill>
                <a:prstDash val="solid"/>
                <a:round/>
              </a:ln>
              <a:effectLst/>
            </c:spPr>
          </c:marker>
          <c:cat>
            <c:strRef>
              <c:f>Sheet1!$A$2:$A$33</c:f>
              <c:strCache>
                <c:ptCount val="32"/>
                <c:pt idx="0">
                  <c:v>1984</c:v>
                </c:pt>
                <c:pt idx="1">
                  <c:v>1985</c:v>
                </c:pt>
                <c:pt idx="2">
                  <c:v>1986</c:v>
                </c:pt>
                <c:pt idx="3">
                  <c:v>1987</c:v>
                </c:pt>
                <c:pt idx="4">
                  <c:v>1988</c:v>
                </c:pt>
                <c:pt idx="5">
                  <c:v>1989</c:v>
                </c:pt>
                <c:pt idx="6">
                  <c:v>1990</c:v>
                </c:pt>
                <c:pt idx="7">
                  <c:v>1991</c:v>
                </c:pt>
                <c:pt idx="8">
                  <c:v>1992</c:v>
                </c:pt>
                <c:pt idx="9">
                  <c:v>1993</c:v>
                </c:pt>
                <c:pt idx="10">
                  <c:v>1994</c:v>
                </c:pt>
                <c:pt idx="11">
                  <c:v>1995</c:v>
                </c:pt>
                <c:pt idx="12">
                  <c:v>1996</c:v>
                </c:pt>
                <c:pt idx="13">
                  <c:v>1997</c:v>
                </c:pt>
                <c:pt idx="14">
                  <c:v>1998</c:v>
                </c:pt>
                <c:pt idx="15">
                  <c:v>1999</c:v>
                </c:pt>
                <c:pt idx="16">
                  <c:v>2000</c:v>
                </c:pt>
                <c:pt idx="17">
                  <c:v>2001</c:v>
                </c:pt>
                <c:pt idx="18">
                  <c:v>2002</c:v>
                </c:pt>
                <c:pt idx="19">
                  <c:v>2003</c:v>
                </c:pt>
                <c:pt idx="20">
                  <c:v>2004</c:v>
                </c:pt>
                <c:pt idx="21">
                  <c:v>2005</c:v>
                </c:pt>
                <c:pt idx="22">
                  <c:v>2006</c:v>
                </c:pt>
                <c:pt idx="23">
                  <c:v>2007</c:v>
                </c:pt>
                <c:pt idx="24">
                  <c:v>2008</c:v>
                </c:pt>
                <c:pt idx="25">
                  <c:v>2009</c:v>
                </c:pt>
                <c:pt idx="26">
                  <c:v>2010</c:v>
                </c:pt>
                <c:pt idx="27">
                  <c:v>2011</c:v>
                </c:pt>
                <c:pt idx="28">
                  <c:v>2012</c:v>
                </c:pt>
                <c:pt idx="29">
                  <c:v>2013</c:v>
                </c:pt>
                <c:pt idx="30">
                  <c:v>2014</c:v>
                </c:pt>
                <c:pt idx="31">
                  <c:v>2015</c:v>
                </c:pt>
              </c:strCache>
            </c: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15</c:v>
                </c:pt>
                <c:pt idx="9">
                  <c:v>16</c:v>
                </c:pt>
                <c:pt idx="10">
                  <c:v>17</c:v>
                </c:pt>
                <c:pt idx="11">
                  <c:v>18</c:v>
                </c:pt>
                <c:pt idx="12">
                  <c:v>19</c:v>
                </c:pt>
                <c:pt idx="13">
                  <c:v>20</c:v>
                </c:pt>
                <c:pt idx="14">
                  <c:v>22</c:v>
                </c:pt>
                <c:pt idx="15">
                  <c:v>24</c:v>
                </c:pt>
                <c:pt idx="16">
                  <c:v>26</c:v>
                </c:pt>
                <c:pt idx="17">
                  <c:v>28</c:v>
                </c:pt>
                <c:pt idx="18">
                  <c:v>30</c:v>
                </c:pt>
                <c:pt idx="19">
                  <c:v>33</c:v>
                </c:pt>
                <c:pt idx="20">
                  <c:v>36</c:v>
                </c:pt>
                <c:pt idx="21">
                  <c:v>40</c:v>
                </c:pt>
                <c:pt idx="22">
                  <c:v>44</c:v>
                </c:pt>
                <c:pt idx="23">
                  <c:v>50</c:v>
                </c:pt>
                <c:pt idx="24">
                  <c:v>56</c:v>
                </c:pt>
                <c:pt idx="25">
                  <c:v>64</c:v>
                </c:pt>
                <c:pt idx="26">
                  <c:v>72</c:v>
                </c:pt>
                <c:pt idx="27">
                  <c:v>82</c:v>
                </c:pt>
                <c:pt idx="28">
                  <c:v>96</c:v>
                </c:pt>
                <c:pt idx="29">
                  <c:v>97</c:v>
                </c:pt>
                <c:pt idx="30">
                  <c:v>85</c:v>
                </c:pt>
                <c:pt idx="31">
                  <c:v>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09-4BB7-9BF4-CE7191B02C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Total Vehicle Sales by Manufacturer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77A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Dodge</c:v>
                </c:pt>
                <c:pt idx="1">
                  <c:v>Toyota</c:v>
                </c:pt>
                <c:pt idx="2">
                  <c:v>Nissan</c:v>
                </c:pt>
                <c:pt idx="3">
                  <c:v>Chevrolet</c:v>
                </c:pt>
                <c:pt idx="4">
                  <c:v>Ford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30233</c:v>
                </c:pt>
                <c:pt idx="1">
                  <c:v>39340</c:v>
                </c:pt>
                <c:pt idx="2">
                  <c:v>53279</c:v>
                </c:pt>
                <c:pt idx="3">
                  <c:v>59219</c:v>
                </c:pt>
                <c:pt idx="4">
                  <c:v>92074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AA-4E13-AD6A-FBFF0757C7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Revenue by State — Top 5 Markets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0A972"/>
            </a:solidFill>
            <a:effectLst/>
          </c:spPr>
          <c:invertIfNegative val="0"/>
          <c:dLbls>
            <c:numFmt formatCode="&quot;$&quot;0.0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New York</c:v>
                </c:pt>
                <c:pt idx="1">
                  <c:v>Texas</c:v>
                </c:pt>
                <c:pt idx="2">
                  <c:v>Florida</c:v>
                </c:pt>
                <c:pt idx="3">
                  <c:v>Pennsylvania</c:v>
                </c:pt>
                <c:pt idx="4">
                  <c:v>California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0.98</c:v>
                </c:pt>
                <c:pt idx="2">
                  <c:v>1.05</c:v>
                </c:pt>
                <c:pt idx="3">
                  <c:v>1.1200000000000001</c:v>
                </c:pt>
                <c:pt idx="4">
                  <c:v>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23-449B-A185-A5FE96A7F8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Annual Revenue ($ Billions) and Average Price Trajectory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77A9D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1985</c:v>
                </c:pt>
                <c:pt idx="1">
                  <c:v>1990</c:v>
                </c:pt>
                <c:pt idx="2">
                  <c:v>1995</c:v>
                </c:pt>
                <c:pt idx="3">
                  <c:v>2000</c:v>
                </c:pt>
                <c:pt idx="4">
                  <c:v>2005</c:v>
                </c:pt>
                <c:pt idx="5">
                  <c:v>2010</c:v>
                </c:pt>
                <c:pt idx="6">
                  <c:v>2012</c:v>
                </c:pt>
                <c:pt idx="7">
                  <c:v>2013</c:v>
                </c:pt>
                <c:pt idx="8">
                  <c:v>2014</c:v>
                </c:pt>
                <c:pt idx="9">
                  <c:v>2015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</c:v>
                </c:pt>
                <c:pt idx="1">
                  <c:v>0.15</c:v>
                </c:pt>
                <c:pt idx="2">
                  <c:v>0.35</c:v>
                </c:pt>
                <c:pt idx="3">
                  <c:v>0.65</c:v>
                </c:pt>
                <c:pt idx="4">
                  <c:v>1.1000000000000001</c:v>
                </c:pt>
                <c:pt idx="5">
                  <c:v>1.8</c:v>
                </c:pt>
                <c:pt idx="6">
                  <c:v>2.5</c:v>
                </c:pt>
                <c:pt idx="7">
                  <c:v>2.4500000000000002</c:v>
                </c:pt>
                <c:pt idx="8">
                  <c:v>2.1</c:v>
                </c:pt>
                <c:pt idx="9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96-4908-BF42-2C412112F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($B)</c:v>
                </c:pt>
              </c:strCache>
            </c:strRef>
          </c:tx>
          <c:spPr>
            <a:solidFill>
              <a:srgbClr val="077A9D"/>
            </a:solidFill>
            <a:effectLst/>
          </c:spPr>
          <c:invertIfNegative val="0"/>
          <c:dLbls>
            <c:numFmt formatCode="&quot;$&quot;0.00&quot;B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Convertible</c:v>
                </c:pt>
                <c:pt idx="1">
                  <c:v>Coupe</c:v>
                </c:pt>
                <c:pt idx="2">
                  <c:v>Hatchback</c:v>
                </c:pt>
                <c:pt idx="3">
                  <c:v>Truck</c:v>
                </c:pt>
                <c:pt idx="4">
                  <c:v>SUV</c:v>
                </c:pt>
                <c:pt idx="5">
                  <c:v>Sedan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</c:v>
                </c:pt>
                <c:pt idx="1">
                  <c:v>0.55000000000000004</c:v>
                </c:pt>
                <c:pt idx="2">
                  <c:v>0.7</c:v>
                </c:pt>
                <c:pt idx="3">
                  <c:v>1.2</c:v>
                </c:pt>
                <c:pt idx="4">
                  <c:v>2</c:v>
                </c:pt>
                <c:pt idx="5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52-421A-85AD-439C9D20F2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AB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837-4668-A2D1-255F92A9122C}"/>
              </c:ext>
            </c:extLst>
          </c:dPt>
          <c:dPt>
            <c:idx val="1"/>
            <c:bubble3D val="0"/>
            <c:spPr>
              <a:solidFill>
                <a:srgbClr val="00A9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837-4668-A2D1-255F92A9122C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C837-4668-A2D1-255F92A9122C}"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C837-4668-A2D1-255F92A912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837-4668-A2D1-255F92A912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Profit / Loss by Segment ($ 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/ Loss ($M)</c:v>
                </c:pt>
              </c:strCache>
            </c:strRef>
          </c:tx>
          <c:spPr>
            <a:solidFill>
              <a:srgbClr val="FFAB00"/>
            </a:solidFill>
            <a:effectLst/>
          </c:spPr>
          <c:invertIfNegative val="0"/>
          <c:dLbls>
            <c:numFmt formatCode="&quot;$&quot;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Economy</c:v>
                </c:pt>
                <c:pt idx="1">
                  <c:v>Luxury</c:v>
                </c:pt>
                <c:pt idx="2">
                  <c:v>Mid-Range</c:v>
                </c:pt>
                <c:pt idx="3">
                  <c:v>Total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-52.1</c:v>
                </c:pt>
                <c:pt idx="1">
                  <c:v>-25.6</c:v>
                </c:pt>
                <c:pt idx="2">
                  <c:v>-6.6</c:v>
                </c:pt>
                <c:pt idx="3">
                  <c:v>-84.3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C3-4909-95B5-B2768CF60A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2B3C"/>
                </a:solidFill>
                <a:latin typeface="Arial"/>
              </a:defRPr>
            </a:pPr>
            <a:r>
              <a:rPr lang="en-US" sz="1400" b="0" i="0" u="none" strike="noStrike">
                <a:solidFill>
                  <a:srgbClr val="1A2B3C"/>
                </a:solidFill>
                <a:latin typeface="Arial"/>
              </a:rPr>
              <a:t>Average Monthly Sales Volume (thousands)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 (000s)</c:v>
                </c:pt>
              </c:strCache>
            </c:strRef>
          </c:tx>
          <c:spPr>
            <a:ln w="38100" cap="flat">
              <a:solidFill>
                <a:srgbClr val="00A972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0A972"/>
              </a:solidFill>
              <a:ln w="9525" cap="flat">
                <a:solidFill>
                  <a:srgbClr val="00A97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2B3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</c:v>
                </c:pt>
                <c:pt idx="1">
                  <c:v>42</c:v>
                </c:pt>
                <c:pt idx="2">
                  <c:v>48</c:v>
                </c:pt>
                <c:pt idx="3">
                  <c:v>52</c:v>
                </c:pt>
                <c:pt idx="4">
                  <c:v>58</c:v>
                </c:pt>
                <c:pt idx="5">
                  <c:v>56</c:v>
                </c:pt>
                <c:pt idx="6">
                  <c:v>50</c:v>
                </c:pt>
                <c:pt idx="7">
                  <c:v>47</c:v>
                </c:pt>
                <c:pt idx="8">
                  <c:v>44</c:v>
                </c:pt>
                <c:pt idx="9">
                  <c:v>42</c:v>
                </c:pt>
                <c:pt idx="10">
                  <c:v>38</c:v>
                </c:pt>
                <c:pt idx="11">
                  <c:v>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D5-42F7-8E86-614F3CCA5E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36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365760"/>
            <a:ext cx="12188761" cy="612648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28800"/>
            <a:ext cx="548640" cy="73152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Business Intelligence Report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 from 540K+ Vehicle Transactions  •  1984 – 2015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r>
              <a:rPr lang="en-US" sz="12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</a:t>
            </a:r>
            <a:r>
              <a:rPr lang="en-US" sz="1200" b="1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Mmamogopodi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from 31 years of operations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6791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54480"/>
            <a:ext cx="2679192" cy="109728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540,008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sold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19272" y="1554480"/>
            <a:ext cx="26791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9272" y="1554480"/>
            <a:ext cx="2679192" cy="109728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2194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$7.39B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02152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554480"/>
            <a:ext cx="26791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81344" y="1554480"/>
            <a:ext cx="2679192" cy="109728"/>
          </a:xfrm>
          <a:prstGeom prst="rect">
            <a:avLst/>
          </a:prstGeom>
          <a:solidFill>
            <a:srgbClr val="00A972"/>
          </a:solidFill>
          <a:ln w="12700">
            <a:solidFill>
              <a:srgbClr val="00A9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64224" y="2194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A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$13,686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64224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vehicle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43416" y="1554480"/>
            <a:ext cx="2679192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43416" y="1554480"/>
            <a:ext cx="2679192" cy="10972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6296" y="1783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26296" y="21945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1984–2015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226296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years coverage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11247120" cy="2011680"/>
          </a:xfrm>
          <a:prstGeom prst="roundRect">
            <a:avLst>
              <a:gd name="adj" fmla="val 363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processed over half a million vehicle transactions across three decades, generating $7.39 billion in revenue. The economy segment drives volume while luxury commands premium pricing, with peak performance observed in 2012–2013. Profitability remains a key challenge, requiring focused pricing strategy refinement.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revenue distribution across three segments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54864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55448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0" y="1554480"/>
            <a:ext cx="109728" cy="109728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4652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 of volume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96112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415K sales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96112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$5.23B revenue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278892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0" y="2788920"/>
            <a:ext cx="109728" cy="109728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44652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 of volume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9611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94K sales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9611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$1.91B revenue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402336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0" y="4023360"/>
            <a:ext cx="109728" cy="1097280"/>
          </a:xfrm>
          <a:prstGeom prst="rect">
            <a:avLst/>
          </a:prstGeom>
          <a:solidFill>
            <a:srgbClr val="00A972"/>
          </a:solidFill>
          <a:ln w="12700">
            <a:solidFill>
              <a:srgbClr val="00A97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652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Mid-Range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4652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of volume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961120" y="4160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31K sales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961120" y="4526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$251M revenue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17920" y="534924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54406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5715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dominates volume; Luxury commands premium pricing per unit.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Over Time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transaction volume, 1984 – 2015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11247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2012–2013: 96K+ transactions per year (all-time high)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0A972"/>
          </a:solidFill>
          <a:ln w="12700">
            <a:solidFill>
              <a:srgbClr val="00A9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577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TRAJECTORY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5852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expansion 1984–2011, sharp acceleration through 2013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Performing Brands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manufacturers by total vehicle sales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73152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046720" y="1920240"/>
            <a:ext cx="3657600" cy="685800"/>
          </a:xfrm>
          <a:prstGeom prst="roundRect">
            <a:avLst>
              <a:gd name="adj" fmla="val 6667"/>
            </a:avLst>
          </a:prstGeom>
          <a:solidFill>
            <a:srgbClr val="077A9D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38160" y="20116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7824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92,074 sales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42416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92,074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046720" y="2697480"/>
            <a:ext cx="3657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38160" y="27889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778240" y="2743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77824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59,219 sales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42416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59,219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046720" y="3474720"/>
            <a:ext cx="3657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138160" y="35661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877824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778240" y="3840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53,279 sales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42416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53,279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046720" y="4251960"/>
            <a:ext cx="3657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43434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77824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Toyota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877824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39,340 sales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424160" y="4434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39,340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046720" y="5029200"/>
            <a:ext cx="3657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38160" y="51206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8778240" y="5074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Dodge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77824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30,233 sales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424160" y="5212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30,233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Distribution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 by US state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68580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58952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4114800" cy="246888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$1.31B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Pennsylvania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$1.12B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$1.05B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York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$0.92B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589520" y="475488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0" y="4846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Markets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772400" y="5166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California, Pennsylvania, and Florida each generate $1B+ in revenue, representing the company's strongest geographic markets.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and average selling price evolution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11247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62356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AB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EVOLUTION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897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 → $27K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79392" y="562356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77A9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62272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62272" y="5897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77A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$2.5B+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101584" y="5623560"/>
            <a:ext cx="36118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A9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84464" y="5669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284464" y="5897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9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 &amp; Transmission Preferences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preferences across vehicle attributes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Body Type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783080"/>
          <a:ext cx="54864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Preference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1783080"/>
          <a:ext cx="548640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wholesale loss with negative margin across segments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731520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046720" y="146304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0" y="16002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WHOLESALE LOSS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-$84.3M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822960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E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-12.2% margin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0" y="3794760"/>
            <a:ext cx="3657600" cy="2514600"/>
          </a:xfrm>
          <a:prstGeom prst="roundRect">
            <a:avLst>
              <a:gd name="adj" fmla="val 290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39319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A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4251960"/>
            <a:ext cx="32918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consistently sold below MMR (Manheim Market Report wholesale value), eroding unit economics across all segments. Pricing strategy and acquisition cost discipline require immediate review.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activity across the calendar year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457200" y="1463040"/>
          <a:ext cx="112471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0A972"/>
          </a:solidFill>
          <a:ln w="12700">
            <a:solidFill>
              <a:srgbClr val="00A9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5577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5852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May–June: highest activity of the year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553212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577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IMPLICATION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0" y="58521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inventory and marketing spend to spring/summer demand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priorities for the next planning cycle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00784"/>
            <a:ext cx="457200" cy="457200"/>
          </a:xfrm>
          <a:prstGeom prst="ellipse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00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1848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Strategy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drives volume; Luxury offers superior unit economics. Rebalance the portfolio mix.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633472"/>
            <a:ext cx="457200" cy="457200"/>
          </a:xfrm>
          <a:prstGeom prst="ellipse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33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55117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Concentration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898648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and Chevrolet dominate market share — deepen these supplier relationships.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rgbClr val="00A972"/>
          </a:solidFill>
          <a:ln w="12700">
            <a:solidFill>
              <a:srgbClr val="00A9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48386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831336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CA, PA, and FL anchor revenue. Build a focused expansion playbook for adjacent states.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06824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4498848"/>
            <a:ext cx="457200" cy="457200"/>
          </a:xfrm>
          <a:prstGeom prst="ellipse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498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80160" y="441655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Marketing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0160" y="4764024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and summer drive peak demand — concentrate marketing investment there.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239512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5431536"/>
            <a:ext cx="457200" cy="457200"/>
          </a:xfrm>
          <a:prstGeom prst="ellipse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5349240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Recovery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280160" y="5696712"/>
            <a:ext cx="10241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selling below MMR. Overhaul acquisition pricing to reverse the -12.2% margin.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&amp; Data 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Methodology, sources, and contact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3611880" cy="457200"/>
          </a:xfrm>
          <a:prstGeom prst="rect">
            <a:avLst/>
          </a:prstGeom>
          <a:solidFill>
            <a:srgbClr val="077A9D"/>
          </a:solidFill>
          <a:ln w="12700">
            <a:solidFill>
              <a:srgbClr val="077A9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540,008 vehicle transaction records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January 1984 – December 2015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measured at gross selling price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benchmarked against MMR wholesale values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4630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79392" y="1463040"/>
            <a:ext cx="3611880" cy="457200"/>
          </a:xfrm>
          <a:prstGeom prst="rect">
            <a:avLst/>
          </a:prstGeom>
          <a:solidFill>
            <a:srgbClr val="FFAB00"/>
          </a:solidFill>
          <a:ln w="12700">
            <a:solidFill>
              <a:srgbClr val="FFA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Bright Motor sales ledger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Manheim Market Report (MMR) wholesale benchmarks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state registration filings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brand classification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611880" cy="457200"/>
          </a:xfrm>
          <a:prstGeom prst="rect">
            <a:avLst/>
          </a:prstGeom>
          <a:solidFill>
            <a:srgbClr val="00A972"/>
          </a:solidFill>
          <a:ln w="12700">
            <a:solidFill>
              <a:srgbClr val="00A9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84464" y="14630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Notes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75904" y="2103120"/>
            <a:ext cx="3291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Team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analytics@brightmotor.example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cadence: quarterly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rounded for presentation clarity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Motor | Sales Analysis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08792" y="6537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753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Motor Sales Analysis</dc:title>
  <dc:subject>PptxGenJS Presentation</dc:subject>
  <dc:creator>PptxGenJS</dc:creator>
  <cp:lastModifiedBy>Sbi</cp:lastModifiedBy>
  <cp:revision>2</cp:revision>
  <dcterms:created xsi:type="dcterms:W3CDTF">2026-05-05T20:18:45Z</dcterms:created>
  <dcterms:modified xsi:type="dcterms:W3CDTF">2026-05-05T20:53:15Z</dcterms:modified>
</cp:coreProperties>
</file>